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DR" initials="D" lastIdx="1" clrIdx="0">
    <p:extLst>
      <p:ext uri="{19B8F6BF-5375-455C-9EA6-DF929625EA0E}">
        <p15:presenceInfo xmlns:p15="http://schemas.microsoft.com/office/powerpoint/2012/main" userId="DD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73" d="100"/>
          <a:sy n="73" d="100"/>
        </p:scale>
        <p:origin x="4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highway-signs/m/manufacturing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edia.org/devops-metrics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lix.com/blog/2025/12/insights-for-growth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illustrations/merci-note-merci-noter-message-1428147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C7E88-ECB0-4732-A744-956E5BFFB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66258"/>
            <a:ext cx="8915399" cy="1126284"/>
          </a:xfrm>
        </p:spPr>
        <p:txBody>
          <a:bodyPr/>
          <a:lstStyle/>
          <a:p>
            <a:r>
              <a:rPr lang="en-US" dirty="0"/>
              <a:t>Manufacturing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F371A-5110-441B-AEA3-4D6117508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81" y="4049487"/>
            <a:ext cx="2342605" cy="253419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Group No : 3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Akanksha Kadam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Bhanukiran kudikyala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Ganesh Gorule 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Shrikant sahu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Soham Kulkarni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 Radhika Pawar  </a:t>
            </a: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 Sidharth P S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7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5C489-3A40-499B-AE99-15556E8C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647" y="2252612"/>
            <a:ext cx="8911687" cy="760553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3BF6-85AB-4E56-81CF-43499337C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450" y="3301994"/>
            <a:ext cx="7498080" cy="249065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Analysis is a project focused on examining production data to understand efficiency, quality, and overall performance in the manufacturing process. It helps identify trends, highlight issues like wastage or rejection, and improve decision-making by using KPIs and visual dashboards.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 goal of the project is to optimize operations and enhance productivity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F64A1-5F41-454B-85B3-9F42D501E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2880" y="0"/>
            <a:ext cx="12009120" cy="19637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C2B47-D8DD-4BE0-A76A-13FADC4FE8D3}"/>
              </a:ext>
            </a:extLst>
          </p:cNvPr>
          <p:cNvSpPr txBox="1"/>
          <p:nvPr/>
        </p:nvSpPr>
        <p:spPr>
          <a:xfrm>
            <a:off x="913632" y="6858000"/>
            <a:ext cx="103647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picpedia.org/highway-signs/m/manufacturing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9009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2332-78E1-4467-BB86-8A8A6DE74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600" y="3195316"/>
            <a:ext cx="8911687" cy="856347"/>
          </a:xfrm>
        </p:spPr>
        <p:txBody>
          <a:bodyPr/>
          <a:lstStyle/>
          <a:p>
            <a:r>
              <a:rPr lang="en-US" dirty="0"/>
              <a:t>KPI’s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1728F-7244-44C3-8606-A12354903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4289696"/>
            <a:ext cx="6322423" cy="2135777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Wastage % (0.82%)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Rejection % (0.99%)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Processed Quantity  (60M)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Manufactured Quantity  (50M)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–Time Delivery (33%)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E97E3-2B55-43D2-89CD-E3BA0BB9E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4171" y="-17417"/>
            <a:ext cx="12017829" cy="275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78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ABFF-06E5-46E7-98DD-8A14BDAE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68" y="1930395"/>
            <a:ext cx="2203269" cy="699593"/>
          </a:xfrm>
        </p:spPr>
        <p:txBody>
          <a:bodyPr>
            <a:normAutofit/>
          </a:bodyPr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B8A31-0F7F-470A-A7E3-62B70BE8E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139" y="2721430"/>
            <a:ext cx="10223861" cy="413657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Manufacturing Quality is Good</a:t>
            </a:r>
          </a:p>
          <a:p>
            <a:pPr marL="0" indent="0">
              <a:buNone/>
            </a:pPr>
            <a:r>
              <a:rPr lang="en-US" dirty="0"/>
              <a:t>        ➡ This indicates strong process control and good manufacturing practices.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Buyer-wise Production is Balanced</a:t>
            </a:r>
          </a:p>
          <a:p>
            <a:pPr marL="0" indent="0">
              <a:buNone/>
            </a:pPr>
            <a:r>
              <a:rPr lang="en-US" dirty="0"/>
              <a:t>        ➡ No buyer is overly dominant; production is evenly distributed.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Woven Labels Department Has the Highest Output</a:t>
            </a:r>
          </a:p>
          <a:p>
            <a:pPr marL="0" indent="0">
              <a:buNone/>
            </a:pPr>
            <a:r>
              <a:rPr lang="en-US" dirty="0"/>
              <a:t>        ➡ Indicates high demand or capacity in this department.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Printed Fabric Department Needs Improvement</a:t>
            </a:r>
          </a:p>
          <a:p>
            <a:pPr marL="0" indent="0">
              <a:buNone/>
            </a:pPr>
            <a:r>
              <a:rPr lang="en-US" dirty="0"/>
              <a:t>        ➡ Suggests quality issues or machine inefficiencies.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Monthly Production Shows Fluctuations</a:t>
            </a:r>
          </a:p>
          <a:p>
            <a:pPr marL="0" indent="0">
              <a:buNone/>
            </a:pPr>
            <a:r>
              <a:rPr lang="en-US" dirty="0"/>
              <a:t>         ➡ Indicates seasonality in orders, requiring workload balancing and labor planning.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B7D703-1E31-41BD-8550-68EBF9842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9006" y="-1"/>
            <a:ext cx="11982994" cy="193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62910-3FF0-4B88-A87B-1B86909E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595" y="5085806"/>
            <a:ext cx="2818810" cy="444136"/>
          </a:xfrm>
        </p:spPr>
        <p:txBody>
          <a:bodyPr>
            <a:normAutofit fontScale="90000"/>
          </a:bodyPr>
          <a:lstStyle/>
          <a:p>
            <a:r>
              <a:rPr lang="en-US" dirty="0"/>
              <a:t>Excel Dashboard</a:t>
            </a:r>
            <a:endParaRPr lang="en-IN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2640D34-9F03-4F8D-9F21-FBC78E03C11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37" r="-341"/>
          <a:stretch/>
        </p:blipFill>
        <p:spPr>
          <a:xfrm>
            <a:off x="148046" y="77616"/>
            <a:ext cx="11922034" cy="4834018"/>
          </a:xfrm>
          <a:ln w="28575"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0572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62910-3FF0-4B88-A87B-1B86909E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589" y="5209903"/>
            <a:ext cx="3236821" cy="566738"/>
          </a:xfrm>
        </p:spPr>
        <p:txBody>
          <a:bodyPr/>
          <a:lstStyle/>
          <a:p>
            <a:r>
              <a:rPr lang="en-US" dirty="0"/>
              <a:t>Power Bi Dashboard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47ADF4C-5667-407D-8AA7-AF6121286CB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1300" t="15044" r="13194" b="10439"/>
          <a:stretch/>
        </p:blipFill>
        <p:spPr>
          <a:xfrm>
            <a:off x="200297" y="87086"/>
            <a:ext cx="11991703" cy="4824548"/>
          </a:xfrm>
          <a:ln w="28575"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192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62910-3FF0-4B88-A87B-1B86909E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578" y="5140235"/>
            <a:ext cx="3646124" cy="566738"/>
          </a:xfrm>
        </p:spPr>
        <p:txBody>
          <a:bodyPr/>
          <a:lstStyle/>
          <a:p>
            <a:r>
              <a:rPr lang="en-US" dirty="0"/>
              <a:t>Tableau Dashboard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80187EA-A530-4C64-9ADD-D32779B91F8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6072" b="4934"/>
          <a:stretch/>
        </p:blipFill>
        <p:spPr>
          <a:xfrm>
            <a:off x="239485" y="60961"/>
            <a:ext cx="11713029" cy="4841966"/>
          </a:xfrm>
          <a:ln w="28575">
            <a:solidFill>
              <a:schemeClr val="accent6">
                <a:lumMod val="50000"/>
              </a:scheme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114193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62910-3FF0-4B88-A87B-1B86909E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773" y="5567138"/>
            <a:ext cx="3280364" cy="566738"/>
          </a:xfrm>
        </p:spPr>
        <p:txBody>
          <a:bodyPr/>
          <a:lstStyle/>
          <a:p>
            <a:r>
              <a:rPr lang="en-US" dirty="0"/>
              <a:t>SQL Queries Outputs </a:t>
            </a:r>
            <a:endParaRPr lang="en-IN" dirty="0"/>
          </a:p>
        </p:txBody>
      </p:sp>
      <p:pic>
        <p:nvPicPr>
          <p:cNvPr id="8" name="Picture Placeholder 7" descr="overall manufacr&#10;">
            <a:extLst>
              <a:ext uri="{FF2B5EF4-FFF2-40B4-BE49-F238E27FC236}">
                <a16:creationId xmlns:a16="http://schemas.microsoft.com/office/drawing/2014/main" id="{296760D9-0C69-418D-8CCE-7EBBEC285E2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43043" t="28926" b="2519"/>
          <a:stretch/>
        </p:blipFill>
        <p:spPr>
          <a:xfrm>
            <a:off x="243839" y="0"/>
            <a:ext cx="2939307" cy="2515252"/>
          </a:xfrm>
          <a:ln w="28575">
            <a:solidFill>
              <a:srgbClr val="FFC000"/>
            </a:solidFill>
          </a:ln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57C5690-0402-4B07-AE47-AA23693FD347}"/>
              </a:ext>
            </a:extLst>
          </p:cNvPr>
          <p:cNvSpPr txBox="1">
            <a:spLocks/>
          </p:cNvSpPr>
          <p:nvPr/>
        </p:nvSpPr>
        <p:spPr>
          <a:xfrm>
            <a:off x="435429" y="78377"/>
            <a:ext cx="11512731" cy="4807132"/>
          </a:xfrm>
          <a:prstGeom prst="rect">
            <a:avLst/>
          </a:prstGeom>
        </p:spPr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FFE0F79-8CE4-463B-AF57-3BD3C750B1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75" t="27283"/>
          <a:stretch/>
        </p:blipFill>
        <p:spPr>
          <a:xfrm>
            <a:off x="3288951" y="0"/>
            <a:ext cx="3554685" cy="2515252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25" name="Arc 24">
            <a:extLst>
              <a:ext uri="{FF2B5EF4-FFF2-40B4-BE49-F238E27FC236}">
                <a16:creationId xmlns:a16="http://schemas.microsoft.com/office/drawing/2014/main" id="{4595741D-88CF-403D-BA6B-0112DF088BCC}"/>
              </a:ext>
            </a:extLst>
          </p:cNvPr>
          <p:cNvSpPr/>
          <p:nvPr/>
        </p:nvSpPr>
        <p:spPr>
          <a:xfrm>
            <a:off x="2394857" y="444137"/>
            <a:ext cx="45719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6020708-1B50-4573-980F-95559A152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" y="2894497"/>
            <a:ext cx="6599796" cy="1874322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92D4339-F64E-48C4-8616-9883FF0CB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0"/>
            <a:ext cx="5025158" cy="2523962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92A4277-76FF-4149-92B4-EC61291040E8}"/>
              </a:ext>
            </a:extLst>
          </p:cNvPr>
          <p:cNvSpPr txBox="1"/>
          <p:nvPr/>
        </p:nvSpPr>
        <p:spPr>
          <a:xfrm>
            <a:off x="1" y="2485977"/>
            <a:ext cx="323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Overall Manufacturing KPIs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9DD77D-3F6D-442E-BE07-34D4C179000B}"/>
              </a:ext>
            </a:extLst>
          </p:cNvPr>
          <p:cNvSpPr txBox="1"/>
          <p:nvPr/>
        </p:nvSpPr>
        <p:spPr>
          <a:xfrm>
            <a:off x="3686954" y="2485977"/>
            <a:ext cx="323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2. Monthly Trend Analysis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624CDD-FD28-4A9C-BCFD-265D91C5C394}"/>
              </a:ext>
            </a:extLst>
          </p:cNvPr>
          <p:cNvSpPr txBox="1"/>
          <p:nvPr/>
        </p:nvSpPr>
        <p:spPr>
          <a:xfrm>
            <a:off x="1618025" y="4788414"/>
            <a:ext cx="4051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4. Buyer-wise Manufacturing KPIs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5468F81-50F5-4784-AB1F-E3E6C8F8A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855309"/>
            <a:ext cx="5025158" cy="1933105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B53825E-2D18-4900-96BF-5689D1E2CBFD}"/>
              </a:ext>
            </a:extLst>
          </p:cNvPr>
          <p:cNvSpPr txBox="1"/>
          <p:nvPr/>
        </p:nvSpPr>
        <p:spPr>
          <a:xfrm>
            <a:off x="7357570" y="4788508"/>
            <a:ext cx="420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5. Machine-wise Rejection Analysis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125B95-56C2-4842-8B10-3C5F5115EEAA}"/>
              </a:ext>
            </a:extLst>
          </p:cNvPr>
          <p:cNvSpPr txBox="1"/>
          <p:nvPr/>
        </p:nvSpPr>
        <p:spPr>
          <a:xfrm>
            <a:off x="7871375" y="2475415"/>
            <a:ext cx="3502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3. Dept-wise Performance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726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A10DC0-5FCA-45E4-9790-92EE90887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Summary</a:t>
            </a:r>
            <a:br>
              <a:rPr lang="en-US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BF3ACF-D61C-4F5A-A07D-8CF2E1FB5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869" y="2029097"/>
            <a:ext cx="10450875" cy="4397829"/>
          </a:xfrm>
        </p:spPr>
        <p:txBody>
          <a:bodyPr>
            <a:normAutofit/>
          </a:bodyPr>
          <a:lstStyle/>
          <a:p>
            <a:r>
              <a:rPr lang="en-US" dirty="0"/>
              <a:t>The project tracks total manufacturing quantity (49,790,600 units) and processed quantity (49,299,577 units) with very low wastage (0.82%) and rejection rates (0.99%).</a:t>
            </a:r>
          </a:p>
          <a:p>
            <a:r>
              <a:rPr lang="en-US" dirty="0"/>
              <a:t>2. Buyer &amp; Department Analysis: Production is analyzed buyer-wise (H&amp;M, Nike, Uniqlo, Zara) and department-wise (Footwear, Knitwear, Printed Fabric, Woven Labels), highlighting contributions and rejection trends.</a:t>
            </a:r>
          </a:p>
          <a:p>
            <a:r>
              <a:rPr lang="en-US" dirty="0"/>
              <a:t>3. Top Products: The top 10 manufactured items are identified, allowing focus on high-volume products and efficiency optimization.</a:t>
            </a:r>
          </a:p>
          <a:p>
            <a:r>
              <a:rPr lang="en-US" dirty="0"/>
              <a:t>4. Cost &amp; Operations Tracking: Daily machine-wise operation costs are monitored across all processes (Cut, Embroidery, Laser, Outsourcing, Packing, Printing, Weaving) for better cost management.</a:t>
            </a:r>
          </a:p>
          <a:p>
            <a:r>
              <a:rPr lang="en-US" dirty="0"/>
              <a:t>5. Trend Analysis: Monthly work order quantities and department-wise production vs. rejection trends are analyzed to identify bottlenecks, production fluctuations, and areas for improvement.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7857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FE4C571-95E0-49E2-8068-57626B614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87551" y="0"/>
            <a:ext cx="6616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4388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176</TotalTime>
  <Words>431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Wisp</vt:lpstr>
      <vt:lpstr>Manufacturing Analytics</vt:lpstr>
      <vt:lpstr>Introduction</vt:lpstr>
      <vt:lpstr>KPI’s</vt:lpstr>
      <vt:lpstr>Insights</vt:lpstr>
      <vt:lpstr>Excel Dashboard</vt:lpstr>
      <vt:lpstr>Power Bi Dashboard</vt:lpstr>
      <vt:lpstr>Tableau Dashboard</vt:lpstr>
      <vt:lpstr>SQL Queries Outputs </vt:lpstr>
      <vt:lpstr>Project Summary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Analytics</dc:title>
  <dc:creator>DDR</dc:creator>
  <cp:lastModifiedBy>DDR</cp:lastModifiedBy>
  <cp:revision>27</cp:revision>
  <dcterms:created xsi:type="dcterms:W3CDTF">2025-12-06T11:23:29Z</dcterms:created>
  <dcterms:modified xsi:type="dcterms:W3CDTF">2025-12-11T13:07:30Z</dcterms:modified>
</cp:coreProperties>
</file>